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020800" cy="172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20800" cy="17272000"/>
          </a:xfrm>
          <a:prstGeom prst="rect">
            <a:avLst/>
          </a:prstGeom>
        </p:spPr>
      </p:pic>
      <p:sp>
        <p:nvSpPr>
          <p:cNvPr id="3" name="AITextBox"/>
          <p:cNvSpPr txBox="1"/>
          <p:nvPr/>
        </p:nvSpPr>
        <p:spPr>
          <a:xfrm>
            <a:off x="2667000" y="609600"/>
            <a:ext cx="8051800" cy="990600"/>
          </a:xfrm>
          <a:prstGeom prst="rect">
            <a:avLst/>
          </a:prstGeom>
          <a:solidFill>
            <a:srgbClr val="F7F5EB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080707"/>
                </a:solidFill>
                <a:latin typeface="Arial"/>
              </a:defRPr>
            </a:pPr>
            <a:r>
              <a:t>Data Storytelling</a:t>
            </a:r>
          </a:p>
        </p:txBody>
      </p:sp>
      <p:sp>
        <p:nvSpPr>
          <p:cNvPr id="4" name="AITextBox"/>
          <p:cNvSpPr txBox="1"/>
          <p:nvPr/>
        </p:nvSpPr>
        <p:spPr>
          <a:xfrm>
            <a:off x="10160000" y="1955800"/>
            <a:ext cx="2641600" cy="660400"/>
          </a:xfrm>
          <a:prstGeom prst="rect">
            <a:avLst/>
          </a:prstGeom>
          <a:solidFill>
            <a:srgbClr val="9737E8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BA7FDA"/>
                </a:solidFill>
                <a:latin typeface="Arial"/>
              </a:defRPr>
            </a:pPr>
            <a:r>
              <a:t>Example of use</a:t>
            </a:r>
            <a:br/>
            <a:r>
              <a:t>cases</a:t>
            </a:r>
          </a:p>
        </p:txBody>
      </p:sp>
      <p:sp>
        <p:nvSpPr>
          <p:cNvPr id="5" name="AITextBox"/>
          <p:cNvSpPr txBox="1"/>
          <p:nvPr/>
        </p:nvSpPr>
        <p:spPr>
          <a:xfrm>
            <a:off x="3251200" y="2082800"/>
            <a:ext cx="2362200" cy="330200"/>
          </a:xfrm>
          <a:prstGeom prst="rect">
            <a:avLst/>
          </a:prstGeom>
          <a:solidFill>
            <a:srgbClr val="6D25E0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CEA3E9"/>
                </a:solidFill>
                <a:latin typeface="Arial"/>
              </a:defRPr>
            </a:pPr>
            <a:r>
              <a:t>Types of Chart</a:t>
            </a:r>
          </a:p>
        </p:txBody>
      </p:sp>
      <p:sp>
        <p:nvSpPr>
          <p:cNvPr id="6" name="AITextBox"/>
          <p:cNvSpPr txBox="1"/>
          <p:nvPr/>
        </p:nvSpPr>
        <p:spPr>
          <a:xfrm>
            <a:off x="6502400" y="2082800"/>
            <a:ext cx="2438400" cy="330200"/>
          </a:xfrm>
          <a:prstGeom prst="rect">
            <a:avLst/>
          </a:prstGeom>
          <a:solidFill>
            <a:srgbClr val="822DE5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D6AAEB"/>
                </a:solidFill>
                <a:latin typeface="Arial"/>
              </a:defRPr>
            </a:pPr>
            <a:r>
              <a:t>When to use it</a:t>
            </a:r>
          </a:p>
        </p:txBody>
      </p:sp>
      <p:sp>
        <p:nvSpPr>
          <p:cNvPr id="7" name="AITextBox"/>
          <p:cNvSpPr txBox="1"/>
          <p:nvPr/>
        </p:nvSpPr>
        <p:spPr>
          <a:xfrm>
            <a:off x="1346200" y="2133600"/>
            <a:ext cx="965200" cy="279400"/>
          </a:xfrm>
          <a:prstGeom prst="rect">
            <a:avLst/>
          </a:prstGeom>
          <a:solidFill>
            <a:srgbClr val="5E25D3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D3ADED"/>
                </a:solidFill>
                <a:latin typeface="Arial"/>
              </a:defRPr>
            </a:pPr>
            <a:r>
              <a:t>chart</a:t>
            </a:r>
          </a:p>
        </p:txBody>
      </p:sp>
      <p:sp>
        <p:nvSpPr>
          <p:cNvPr id="8" name="AITextBox"/>
          <p:cNvSpPr txBox="1"/>
          <p:nvPr/>
        </p:nvSpPr>
        <p:spPr>
          <a:xfrm>
            <a:off x="6400800" y="3098800"/>
            <a:ext cx="2590800" cy="660400"/>
          </a:xfrm>
          <a:prstGeom prst="rect">
            <a:avLst/>
          </a:prstGeom>
          <a:solidFill>
            <a:srgbClr val="F6F3EB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7443F"/>
                </a:solidFill>
                <a:latin typeface="Arial"/>
              </a:defRPr>
            </a:pPr>
            <a:r>
              <a:t>Compare quantities</a:t>
            </a:r>
            <a:br/>
            <a:r>
              <a:t>across Categories</a:t>
            </a:r>
          </a:p>
        </p:txBody>
      </p:sp>
      <p:sp>
        <p:nvSpPr>
          <p:cNvPr id="9" name="AITextBox"/>
          <p:cNvSpPr txBox="1"/>
          <p:nvPr/>
        </p:nvSpPr>
        <p:spPr>
          <a:xfrm>
            <a:off x="10337800" y="3098800"/>
            <a:ext cx="2336800" cy="584200"/>
          </a:xfrm>
          <a:prstGeom prst="rect">
            <a:avLst/>
          </a:prstGeom>
          <a:solidFill>
            <a:srgbClr val="F4F2EA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7433E"/>
                </a:solidFill>
                <a:latin typeface="Arial"/>
              </a:defRPr>
            </a:pPr>
            <a:r>
              <a:t>Compare sales of</a:t>
            </a:r>
            <a:br/>
            <a:r>
              <a:t>different products.</a:t>
            </a:r>
          </a:p>
        </p:txBody>
      </p:sp>
      <p:sp>
        <p:nvSpPr>
          <p:cNvPr id="10" name="AITextBox"/>
          <p:cNvSpPr txBox="1"/>
          <p:nvPr/>
        </p:nvSpPr>
        <p:spPr>
          <a:xfrm>
            <a:off x="3683000" y="3200400"/>
            <a:ext cx="1524000" cy="304800"/>
          </a:xfrm>
          <a:prstGeom prst="rect">
            <a:avLst/>
          </a:prstGeom>
          <a:solidFill>
            <a:srgbClr val="F6EDF0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6E46B0"/>
                </a:solidFill>
                <a:latin typeface="Arial"/>
              </a:defRPr>
            </a:pPr>
            <a:r>
              <a:t>Bar Chart</a:t>
            </a:r>
          </a:p>
        </p:txBody>
      </p:sp>
      <p:sp>
        <p:nvSpPr>
          <p:cNvPr id="11" name="AITextBox"/>
          <p:cNvSpPr txBox="1"/>
          <p:nvPr/>
        </p:nvSpPr>
        <p:spPr>
          <a:xfrm>
            <a:off x="10109200" y="4343400"/>
            <a:ext cx="2768600" cy="914400"/>
          </a:xfrm>
          <a:prstGeom prst="rect">
            <a:avLst/>
          </a:prstGeom>
          <a:solidFill>
            <a:srgbClr val="F7F4EB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4413C"/>
                </a:solidFill>
                <a:latin typeface="Arial"/>
              </a:defRPr>
            </a:pPr>
            <a:r>
              <a:t>Display the growth of</a:t>
            </a:r>
            <a:br/>
            <a:r>
              <a:t>website traffic over a</a:t>
            </a:r>
            <a:br/>
            <a:r>
              <a:t>year.</a:t>
            </a:r>
          </a:p>
        </p:txBody>
      </p:sp>
      <p:sp>
        <p:nvSpPr>
          <p:cNvPr id="12" name="AITextBox"/>
          <p:cNvSpPr txBox="1"/>
          <p:nvPr/>
        </p:nvSpPr>
        <p:spPr>
          <a:xfrm>
            <a:off x="6578600" y="4572000"/>
            <a:ext cx="2235200" cy="558800"/>
          </a:xfrm>
          <a:prstGeom prst="rect">
            <a:avLst/>
          </a:prstGeom>
          <a:solidFill>
            <a:srgbClr val="F8F4EB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6433D"/>
                </a:solidFill>
                <a:latin typeface="Arial"/>
              </a:defRPr>
            </a:pPr>
            <a:r>
              <a:t>Show Trends over</a:t>
            </a:r>
            <a:br/>
            <a:r>
              <a:t>time</a:t>
            </a:r>
          </a:p>
        </p:txBody>
      </p:sp>
      <p:sp>
        <p:nvSpPr>
          <p:cNvPr id="13" name="AITextBox"/>
          <p:cNvSpPr txBox="1"/>
          <p:nvPr/>
        </p:nvSpPr>
        <p:spPr>
          <a:xfrm>
            <a:off x="3632200" y="4648200"/>
            <a:ext cx="1625600" cy="279400"/>
          </a:xfrm>
          <a:prstGeom prst="rect">
            <a:avLst/>
          </a:prstGeom>
          <a:solidFill>
            <a:srgbClr val="F6EBF1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704AAC"/>
                </a:solidFill>
                <a:latin typeface="Arial"/>
              </a:defRPr>
            </a:pPr>
            <a:r>
              <a:t>Line Chart</a:t>
            </a:r>
          </a:p>
        </p:txBody>
      </p:sp>
      <p:sp>
        <p:nvSpPr>
          <p:cNvPr id="14" name="AITextBox"/>
          <p:cNvSpPr txBox="1"/>
          <p:nvPr/>
        </p:nvSpPr>
        <p:spPr>
          <a:xfrm>
            <a:off x="6375400" y="5994400"/>
            <a:ext cx="2667000" cy="558800"/>
          </a:xfrm>
          <a:prstGeom prst="rect">
            <a:avLst/>
          </a:prstGeom>
          <a:solidFill>
            <a:srgbClr val="F4F1E9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6433F"/>
                </a:solidFill>
                <a:latin typeface="Arial"/>
              </a:defRPr>
            </a:pPr>
            <a:r>
              <a:t>Highlight proportions</a:t>
            </a:r>
            <a:br/>
            <a:r>
              <a:t>and percentages</a:t>
            </a:r>
          </a:p>
        </p:txBody>
      </p:sp>
      <p:sp>
        <p:nvSpPr>
          <p:cNvPr id="15" name="AITextBox"/>
          <p:cNvSpPr txBox="1"/>
          <p:nvPr/>
        </p:nvSpPr>
        <p:spPr>
          <a:xfrm>
            <a:off x="9956800" y="5994400"/>
            <a:ext cx="3073400" cy="558800"/>
          </a:xfrm>
          <a:prstGeom prst="rect">
            <a:avLst/>
          </a:prstGeom>
          <a:solidFill>
            <a:srgbClr val="F3F0E8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3403B"/>
                </a:solidFill>
                <a:latin typeface="Arial"/>
              </a:defRPr>
            </a:pPr>
            <a:r>
              <a:t>lllustrate the breakdown</a:t>
            </a:r>
            <a:br/>
            <a:r>
              <a:t>of expenses in a budget.</a:t>
            </a:r>
          </a:p>
        </p:txBody>
      </p:sp>
      <p:sp>
        <p:nvSpPr>
          <p:cNvPr id="16" name="AITextBox"/>
          <p:cNvSpPr txBox="1"/>
          <p:nvPr/>
        </p:nvSpPr>
        <p:spPr>
          <a:xfrm>
            <a:off x="3708400" y="6121400"/>
            <a:ext cx="1473200" cy="279400"/>
          </a:xfrm>
          <a:prstGeom prst="rect">
            <a:avLst/>
          </a:prstGeom>
          <a:solidFill>
            <a:srgbClr val="F6EAF0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6F49AE"/>
                </a:solidFill>
                <a:latin typeface="Arial"/>
              </a:defRPr>
            </a:pPr>
            <a:r>
              <a:t>Pie Chart</a:t>
            </a:r>
          </a:p>
        </p:txBody>
      </p:sp>
      <p:sp>
        <p:nvSpPr>
          <p:cNvPr id="17" name="AITextBox"/>
          <p:cNvSpPr txBox="1"/>
          <p:nvPr/>
        </p:nvSpPr>
        <p:spPr>
          <a:xfrm>
            <a:off x="10210800" y="7213600"/>
            <a:ext cx="2565400" cy="914400"/>
          </a:xfrm>
          <a:prstGeom prst="rect">
            <a:avLst/>
          </a:prstGeom>
          <a:solidFill>
            <a:srgbClr val="F5F0E8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5423E"/>
                </a:solidFill>
                <a:latin typeface="Arial"/>
              </a:defRPr>
            </a:pPr>
            <a:r>
              <a:t>Identify correlations</a:t>
            </a:r>
            <a:br/>
            <a:r>
              <a:t>between marketing</a:t>
            </a:r>
            <a:br/>
            <a:r>
              <a:t>spend and ROI.</a:t>
            </a:r>
          </a:p>
        </p:txBody>
      </p:sp>
      <p:sp>
        <p:nvSpPr>
          <p:cNvPr id="18" name="AITextBox"/>
          <p:cNvSpPr txBox="1"/>
          <p:nvPr/>
        </p:nvSpPr>
        <p:spPr>
          <a:xfrm>
            <a:off x="6223000" y="7391400"/>
            <a:ext cx="2971800" cy="609600"/>
          </a:xfrm>
          <a:prstGeom prst="rect">
            <a:avLst/>
          </a:prstGeom>
          <a:solidFill>
            <a:srgbClr val="F6F1E9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74440"/>
                </a:solidFill>
                <a:latin typeface="Arial"/>
              </a:defRPr>
            </a:pPr>
            <a:r>
              <a:t>Representrelationships</a:t>
            </a:r>
            <a:br/>
            <a:r>
              <a:t>between variables</a:t>
            </a:r>
          </a:p>
        </p:txBody>
      </p:sp>
      <p:sp>
        <p:nvSpPr>
          <p:cNvPr id="19" name="AITextBox"/>
          <p:cNvSpPr txBox="1"/>
          <p:nvPr/>
        </p:nvSpPr>
        <p:spPr>
          <a:xfrm>
            <a:off x="3530600" y="7518400"/>
            <a:ext cx="1828800" cy="304800"/>
          </a:xfrm>
          <a:prstGeom prst="rect">
            <a:avLst/>
          </a:prstGeom>
          <a:solidFill>
            <a:srgbClr val="F7ECEF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7047AF"/>
                </a:solidFill>
                <a:latin typeface="Arial"/>
              </a:defRPr>
            </a:pPr>
            <a:r>
              <a:t>Scatter Plot</a:t>
            </a:r>
          </a:p>
        </p:txBody>
      </p:sp>
      <p:sp>
        <p:nvSpPr>
          <p:cNvPr id="20" name="AITextBox"/>
          <p:cNvSpPr txBox="1"/>
          <p:nvPr/>
        </p:nvSpPr>
        <p:spPr>
          <a:xfrm>
            <a:off x="10134600" y="8712200"/>
            <a:ext cx="2692400" cy="914400"/>
          </a:xfrm>
          <a:prstGeom prst="rect">
            <a:avLst/>
          </a:prstGeom>
          <a:solidFill>
            <a:srgbClr val="F6F1E9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6423D"/>
                </a:solidFill>
                <a:latin typeface="Arial"/>
              </a:defRPr>
            </a:pPr>
            <a:r>
              <a:t>Show the age</a:t>
            </a:r>
            <a:br/>
            <a:r>
              <a:t>distribution of survey</a:t>
            </a:r>
            <a:br/>
            <a:r>
              <a:t>respondents.</a:t>
            </a:r>
          </a:p>
        </p:txBody>
      </p:sp>
      <p:sp>
        <p:nvSpPr>
          <p:cNvPr id="21" name="AITextBox"/>
          <p:cNvSpPr txBox="1"/>
          <p:nvPr/>
        </p:nvSpPr>
        <p:spPr>
          <a:xfrm>
            <a:off x="6477000" y="8890000"/>
            <a:ext cx="2463800" cy="584200"/>
          </a:xfrm>
          <a:prstGeom prst="rect">
            <a:avLst/>
          </a:prstGeom>
          <a:solidFill>
            <a:srgbClr val="F6F1E8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7433E"/>
                </a:solidFill>
                <a:latin typeface="Arial"/>
              </a:defRPr>
            </a:pPr>
            <a:r>
              <a:t>Visualize the</a:t>
            </a:r>
            <a:br/>
            <a:r>
              <a:t>distribution of data.</a:t>
            </a:r>
          </a:p>
        </p:txBody>
      </p:sp>
      <p:sp>
        <p:nvSpPr>
          <p:cNvPr id="22" name="AITextBox"/>
          <p:cNvSpPr txBox="1"/>
          <p:nvPr/>
        </p:nvSpPr>
        <p:spPr>
          <a:xfrm>
            <a:off x="3606800" y="9067800"/>
            <a:ext cx="1676400" cy="279400"/>
          </a:xfrm>
          <a:prstGeom prst="rect">
            <a:avLst/>
          </a:prstGeom>
          <a:solidFill>
            <a:srgbClr val="F6EBEE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7047AF"/>
                </a:solidFill>
                <a:latin typeface="Arial"/>
              </a:defRPr>
            </a:pPr>
            <a:r>
              <a:t>Histoaram</a:t>
            </a:r>
          </a:p>
        </p:txBody>
      </p:sp>
      <p:sp>
        <p:nvSpPr>
          <p:cNvPr id="23" name="AITextBox"/>
          <p:cNvSpPr txBox="1"/>
          <p:nvPr/>
        </p:nvSpPr>
        <p:spPr>
          <a:xfrm>
            <a:off x="9829800" y="10185400"/>
            <a:ext cx="3302000" cy="889000"/>
          </a:xfrm>
          <a:prstGeom prst="rect">
            <a:avLst/>
          </a:prstGeom>
          <a:solidFill>
            <a:srgbClr val="F7F1E7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6423D"/>
                </a:solidFill>
                <a:latin typeface="Arial"/>
              </a:defRPr>
            </a:pPr>
            <a:r>
              <a:t>Evaluate the performance</a:t>
            </a:r>
            <a:br/>
            <a:r>
              <a:t>of a product in various</a:t>
            </a:r>
            <a:br/>
            <a:r>
              <a:t>areas.</a:t>
            </a:r>
          </a:p>
        </p:txBody>
      </p:sp>
      <p:sp>
        <p:nvSpPr>
          <p:cNvPr id="24" name="AITextBox"/>
          <p:cNvSpPr txBox="1"/>
          <p:nvPr/>
        </p:nvSpPr>
        <p:spPr>
          <a:xfrm>
            <a:off x="6527800" y="10236200"/>
            <a:ext cx="2362200" cy="889000"/>
          </a:xfrm>
          <a:prstGeom prst="rect">
            <a:avLst/>
          </a:prstGeom>
          <a:solidFill>
            <a:srgbClr val="F5F0E7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6423C"/>
                </a:solidFill>
                <a:latin typeface="Arial"/>
              </a:defRPr>
            </a:pPr>
            <a:r>
              <a:t>Compare multiple</a:t>
            </a:r>
            <a:br/>
            <a:r>
              <a:t>categories across</a:t>
            </a:r>
            <a:br/>
            <a:r>
              <a:t>dimensions.</a:t>
            </a:r>
          </a:p>
        </p:txBody>
      </p:sp>
      <p:sp>
        <p:nvSpPr>
          <p:cNvPr id="25" name="AITextBox"/>
          <p:cNvSpPr txBox="1"/>
          <p:nvPr/>
        </p:nvSpPr>
        <p:spPr>
          <a:xfrm>
            <a:off x="3479800" y="10541000"/>
            <a:ext cx="1930400" cy="254000"/>
          </a:xfrm>
          <a:prstGeom prst="rect">
            <a:avLst/>
          </a:prstGeom>
          <a:solidFill>
            <a:srgbClr val="F3E4F0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6B43AE"/>
                </a:solidFill>
                <a:latin typeface="Arial"/>
              </a:defRPr>
            </a:pPr>
            <a:r>
              <a:t>RadarChart</a:t>
            </a:r>
          </a:p>
        </p:txBody>
      </p:sp>
      <p:sp>
        <p:nvSpPr>
          <p:cNvPr id="26" name="AITextBox"/>
          <p:cNvSpPr txBox="1"/>
          <p:nvPr/>
        </p:nvSpPr>
        <p:spPr>
          <a:xfrm>
            <a:off x="6654800" y="11760200"/>
            <a:ext cx="2082800" cy="635000"/>
          </a:xfrm>
          <a:prstGeom prst="rect">
            <a:avLst/>
          </a:prstGeom>
          <a:solidFill>
            <a:srgbClr val="F6F0E6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4413B"/>
                </a:solidFill>
                <a:latin typeface="Arial"/>
              </a:defRPr>
            </a:pPr>
            <a:r>
              <a:t>Visualize</a:t>
            </a:r>
            <a:br/>
            <a:r>
              <a:t>geospatial data</a:t>
            </a:r>
          </a:p>
        </p:txBody>
      </p:sp>
      <p:sp>
        <p:nvSpPr>
          <p:cNvPr id="27" name="AITextBox"/>
          <p:cNvSpPr txBox="1"/>
          <p:nvPr/>
        </p:nvSpPr>
        <p:spPr>
          <a:xfrm>
            <a:off x="9982200" y="11785600"/>
            <a:ext cx="2971800" cy="609600"/>
          </a:xfrm>
          <a:prstGeom prst="rect">
            <a:avLst/>
          </a:prstGeom>
          <a:solidFill>
            <a:srgbClr val="F4EFE6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8443D"/>
                </a:solidFill>
                <a:latin typeface="Arial"/>
              </a:defRPr>
            </a:pPr>
            <a:r>
              <a:t>Display regional sales</a:t>
            </a:r>
            <a:br/>
            <a:r>
              <a:t>performance on a map.</a:t>
            </a:r>
          </a:p>
        </p:txBody>
      </p:sp>
      <p:sp>
        <p:nvSpPr>
          <p:cNvPr id="28" name="AITextBox"/>
          <p:cNvSpPr txBox="1"/>
          <p:nvPr/>
        </p:nvSpPr>
        <p:spPr>
          <a:xfrm>
            <a:off x="4038600" y="11963400"/>
            <a:ext cx="787400" cy="355600"/>
          </a:xfrm>
          <a:prstGeom prst="rect">
            <a:avLst/>
          </a:prstGeom>
          <a:solidFill>
            <a:srgbClr val="F7EBEB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6D40B4"/>
                </a:solidFill>
                <a:latin typeface="Arial"/>
              </a:defRPr>
            </a:pPr>
            <a:r>
              <a:t>Map</a:t>
            </a:r>
          </a:p>
        </p:txBody>
      </p:sp>
      <p:sp>
        <p:nvSpPr>
          <p:cNvPr id="29" name="AITextBox"/>
          <p:cNvSpPr txBox="1"/>
          <p:nvPr/>
        </p:nvSpPr>
        <p:spPr>
          <a:xfrm>
            <a:off x="6223000" y="13055600"/>
            <a:ext cx="2946400" cy="889000"/>
          </a:xfrm>
          <a:prstGeom prst="rect">
            <a:avLst/>
          </a:prstGeom>
          <a:solidFill>
            <a:srgbClr val="F4EEE5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6413B"/>
                </a:solidFill>
                <a:latin typeface="Arial"/>
              </a:defRPr>
            </a:pPr>
            <a:r>
              <a:t>Visualize data density</a:t>
            </a:r>
            <a:br/>
            <a:r>
              <a:t>and patterns especially</a:t>
            </a:r>
            <a:br/>
            <a:r>
              <a:t>in large data set</a:t>
            </a:r>
          </a:p>
        </p:txBody>
      </p:sp>
      <p:sp>
        <p:nvSpPr>
          <p:cNvPr id="30" name="AITextBox"/>
          <p:cNvSpPr txBox="1"/>
          <p:nvPr/>
        </p:nvSpPr>
        <p:spPr>
          <a:xfrm>
            <a:off x="10058400" y="13055600"/>
            <a:ext cx="2870200" cy="863600"/>
          </a:xfrm>
          <a:prstGeom prst="rect">
            <a:avLst/>
          </a:prstGeom>
          <a:solidFill>
            <a:srgbClr val="F5EEE5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8423C"/>
                </a:solidFill>
                <a:latin typeface="Arial"/>
              </a:defRPr>
            </a:pPr>
            <a:r>
              <a:t>Identifying hotspots of</a:t>
            </a:r>
            <a:br/>
            <a:r>
              <a:t>customer activity in a</a:t>
            </a:r>
            <a:br/>
            <a:r>
              <a:t>shopping mall.</a:t>
            </a:r>
          </a:p>
        </p:txBody>
      </p:sp>
      <p:sp>
        <p:nvSpPr>
          <p:cNvPr id="31" name="AITextBox"/>
          <p:cNvSpPr txBox="1"/>
          <p:nvPr/>
        </p:nvSpPr>
        <p:spPr>
          <a:xfrm>
            <a:off x="3632200" y="13258800"/>
            <a:ext cx="1600200" cy="431800"/>
          </a:xfrm>
          <a:prstGeom prst="rect">
            <a:avLst/>
          </a:prstGeom>
          <a:solidFill>
            <a:srgbClr val="F9EDEA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7046B2"/>
                </a:solidFill>
                <a:latin typeface="Arial"/>
              </a:defRPr>
            </a:pPr>
            <a:r>
              <a:t>Heatmap</a:t>
            </a:r>
          </a:p>
        </p:txBody>
      </p:sp>
      <p:sp>
        <p:nvSpPr>
          <p:cNvPr id="32" name="AITextBox"/>
          <p:cNvSpPr txBox="1"/>
          <p:nvPr/>
        </p:nvSpPr>
        <p:spPr>
          <a:xfrm>
            <a:off x="10007600" y="14554200"/>
            <a:ext cx="2971800" cy="889000"/>
          </a:xfrm>
          <a:prstGeom prst="rect">
            <a:avLst/>
          </a:prstGeom>
          <a:solidFill>
            <a:srgbClr val="F6EEE5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8423C"/>
                </a:solidFill>
                <a:latin typeface="Arial"/>
              </a:defRPr>
            </a:pPr>
            <a:r>
              <a:t>Compare revenue,cost</a:t>
            </a:r>
            <a:br/>
            <a:r>
              <a:t>and profit in three</a:t>
            </a:r>
            <a:br/>
            <a:r>
              <a:t>dimensions.</a:t>
            </a:r>
          </a:p>
        </p:txBody>
      </p:sp>
      <p:sp>
        <p:nvSpPr>
          <p:cNvPr id="33" name="AITextBox"/>
          <p:cNvSpPr txBox="1"/>
          <p:nvPr/>
        </p:nvSpPr>
        <p:spPr>
          <a:xfrm>
            <a:off x="6578600" y="14732000"/>
            <a:ext cx="2235200" cy="558800"/>
          </a:xfrm>
          <a:prstGeom prst="rect">
            <a:avLst/>
          </a:prstGeom>
          <a:solidFill>
            <a:srgbClr val="F3EDE4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6413C"/>
                </a:solidFill>
                <a:latin typeface="Arial"/>
              </a:defRPr>
            </a:pPr>
            <a:r>
              <a:t>Represent three-</a:t>
            </a:r>
            <a:br/>
            <a:r>
              <a:t>dimensionaldata</a:t>
            </a:r>
          </a:p>
        </p:txBody>
      </p:sp>
      <p:sp>
        <p:nvSpPr>
          <p:cNvPr id="34" name="AITextBox"/>
          <p:cNvSpPr txBox="1"/>
          <p:nvPr/>
        </p:nvSpPr>
        <p:spPr>
          <a:xfrm>
            <a:off x="3403600" y="14859000"/>
            <a:ext cx="2082800" cy="254000"/>
          </a:xfrm>
          <a:prstGeom prst="rect">
            <a:avLst/>
          </a:prstGeom>
          <a:solidFill>
            <a:srgbClr val="F3E2F0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6E45B1"/>
                </a:solidFill>
                <a:latin typeface="Arial"/>
              </a:defRPr>
            </a:pPr>
            <a:r>
              <a:t>Bubble Chart</a:t>
            </a:r>
          </a:p>
        </p:txBody>
      </p:sp>
      <p:sp>
        <p:nvSpPr>
          <p:cNvPr id="35" name="AITextBox"/>
          <p:cNvSpPr txBox="1"/>
          <p:nvPr/>
        </p:nvSpPr>
        <p:spPr>
          <a:xfrm>
            <a:off x="6400800" y="16052800"/>
            <a:ext cx="2590800" cy="660400"/>
          </a:xfrm>
          <a:prstGeom prst="rect">
            <a:avLst/>
          </a:prstGeom>
          <a:solidFill>
            <a:srgbClr val="F3EDE4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5403A"/>
                </a:solidFill>
                <a:latin typeface="Arial"/>
              </a:defRPr>
            </a:pPr>
            <a:r>
              <a:t>Emphasize specific</a:t>
            </a:r>
            <a:br/>
            <a:r>
              <a:t>parts within a whole</a:t>
            </a:r>
          </a:p>
        </p:txBody>
      </p:sp>
      <p:sp>
        <p:nvSpPr>
          <p:cNvPr id="36" name="AITextBox"/>
          <p:cNvSpPr txBox="1"/>
          <p:nvPr/>
        </p:nvSpPr>
        <p:spPr>
          <a:xfrm>
            <a:off x="9906000" y="16129000"/>
            <a:ext cx="3149600" cy="635000"/>
          </a:xfrm>
          <a:prstGeom prst="rect">
            <a:avLst/>
          </a:prstGeom>
          <a:solidFill>
            <a:srgbClr val="F4EDE4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45403A"/>
                </a:solidFill>
                <a:latin typeface="Arial"/>
              </a:defRPr>
            </a:pPr>
            <a:r>
              <a:t>Show the distribution of</a:t>
            </a:r>
            <a:br/>
            <a:r>
              <a:t>marketing expenditures.</a:t>
            </a:r>
          </a:p>
        </p:txBody>
      </p:sp>
      <p:sp>
        <p:nvSpPr>
          <p:cNvPr id="37" name="AITextBox"/>
          <p:cNvSpPr txBox="1"/>
          <p:nvPr/>
        </p:nvSpPr>
        <p:spPr>
          <a:xfrm>
            <a:off x="3479800" y="16281400"/>
            <a:ext cx="1930400" cy="279400"/>
          </a:xfrm>
          <a:prstGeom prst="rect">
            <a:avLst/>
          </a:prstGeom>
          <a:solidFill>
            <a:srgbClr val="F4E6ED"/>
          </a:solidFill>
        </p:spPr>
        <p:txBody>
          <a:bodyPr wrap="square" lIns="0" rIns="0" tIns="0" bIns="0">
            <a:normAutofit/>
          </a:bodyPr>
          <a:lstStyle/>
          <a:p>
            <a:pPr algn="ctr">
              <a:defRPr b="0" sz="1733">
                <a:solidFill>
                  <a:srgbClr val="6F44B2"/>
                </a:solidFill>
                <a:latin typeface="Arial"/>
              </a:defRPr>
            </a:pPr>
            <a:r>
              <a:t>Donut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